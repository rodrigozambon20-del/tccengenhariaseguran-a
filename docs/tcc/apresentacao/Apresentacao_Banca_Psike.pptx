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Cumprimentar a banca. Frase de abertura: no setor elétrico o acidente raramente é leve — e a NR-1 obriga a analisar cada ocorrência e realimentar o PGR. Este TCC entrega o instrumento que torna isso exequível. Duração-alvo: ~15 min + arguição.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Ancorar o problema nos números do setor e na exigência da NR-1. Ponto-chave: investigação rasa = acidente repetido.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claro o gap: método existe, norma exige, ferramenta acessível não existia. O diferencial é operacionalizar.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o geral com calma; os específicos espelham a estrutura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 linha: modelo causal define a investigação. Citar o burnout como fator humano contribuinte (ponto cobrado na avaliação). Fechar com a tradução do método para o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o desenho em duas partes: o retrospectivo compara profundidade causal; o piloto mede reporte e tempo de registro. Anonimato: sem nomes, datas exatas ou locais.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módulo de acidentes é o coração do TCC; os demais alimentam a mesma base — dá para cruzar ocorrência × permissão emitida × sinalização psicossocial do setor.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de venda técnico: o formulário NÃO permite concluir só com causas imediatas — é o método da árvore traduzido em software. Se possível, demo ao vivo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Passar rápido — a mensagem é integração: a mesma base de dados permite cruzar ocorrências com permissões e com a sinalização psicossocial (fatores humanos).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Dados reais aqui — NÃO inventar. Se o piloto estiver em curso na defesa, apresentar a parte documental como resultado principal e o piloto como em andamento.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Reconhecer limites com maturidade — a banca valoriza. O roteiro de 3 níveis é operacionalização, não o diagrama completo do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reafirmando: método consolidado + ferramenta acessível = prevenção que aprende com cada evento. Gancho de continuidade.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à banca, à supervisão da monografia e à CERPRO. Ter o app aberto para eventual demonstração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16233F"/>
                </a:solidFill>
                <a:latin typeface="Georgia"/>
              </a:rPr>
              <a:t>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65836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Psike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INVESTIGAÇÃO DIGITAL DE ACIDENTES PELO MÉTODO DA ÁRVORE DE CAUSAS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C7CEDB"/>
                </a:solidFill>
                <a:latin typeface="Calibri"/>
              </a:rPr>
              <a:t>Registro e análise de acidentes e quase acidentes integrados à NR-1 em serviços de distribuição de energia elétrica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B4842A"/>
                </a:solidFill>
                <a:latin typeface="Calibri"/>
              </a:rPr>
              <a:t>Rodrigo Zambon  [PREENCHER: nome completo]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AEB8C9"/>
                </a:solidFill>
                <a:latin typeface="Calibri"/>
              </a:rPr>
              <a:t>Supervisão: [PREENCHER]   ·   Especialização em Engenharia de Segurança do Trabalho — PECE/EPUSP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AEB8C9"/>
                </a:solidFill>
                <a:latin typeface="Calibri"/>
              </a:rPr>
              <a:t>São Paulo · [PREENCHER: data da defesa]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CONTEXTO E PROBLEMA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A norma exige analisar; a prática ainda é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A NR-1 (GRO) obriga o empregador a analisar acidentes e doenças relacionadas ao trabalho, identificar causas e realimentar o PGR.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Na prática: registro em papel, horas/dias após o evento; investigação que para no “ato inseguro”; quase acidentes raramente reportados; ações sem acompanhamento.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A literatura chama essa prática de paradigma culpabilizador — e a associa diretamente à recorrência dos eventos (Binder; Almeida, 1997; Almeida, 2006).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Setor elétrico: 2.089 acidentes de origem elétrica em 2023, 781 óbitos (Abracopel, 2024); 250 mortes na rede de distribuição (Acidentes [...], 2024).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Eventos raros e graves ⇒ o quase acidente é o insumo mais abundante do aprendizado — se for reportado.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JUSTIFICATIVA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Três razões para este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Gravidade setorial: letalidade dos acidentes elétricos supera 1/3 das ocorrências (Abracopel, 2024) — cada evento desperdiçado custa caro.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Exigência normativa: NR-1 demanda análise com método e registro rastreável; NBR 14280 padroniza cadastro e estatísticas.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Lacuna prática: o método da árvore de causas é consolidado na literatura brasileira desde os anos 1990, mas carece de ferramenta digital acessível que o leve ao campo.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Proposta: sistema de custo praticamente nulo, replicável por equipes de SST enxutas, sem apoio de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OBJETIVOS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Objetivo geral e específicos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GERAL: desenvolver e aplicar um sistema digital de registro e investigação de acidentes e quase acidentes, estruturado no método da árvore de causas e integrado ao GRO (NR-1), em uma organização de distribuição de energia elétrica.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Sistematizar os requisitos da NR-1, NBR 14280, ISO 45001 e a articulação com a CAT/eSocial;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Revisar os modelos de causalidade e o método da árvore de causas;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Implementar registro em campo, investigação em 3 níveis de causas, gestão de ações e indicadores;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Integrar aos módulos complementares (PT NR-10/35, psicossocial NR-1, AEP NR-17) na mesma base;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Aplicar em estudo de caso (retrospectivo + piloto) e discutir resultados e limitações.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FUNDAMENTAÇÃO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Do modelo causal ao roteiro de investigação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6233F"/>
                </a:solidFill>
                <a:latin typeface="Calibri"/>
              </a:rPr>
              <a:t>•  Heinrich (1931) e Bird &amp; Germain (1985): a pirâmide de eventos — muitos quase acidentes antecedem a lesão grave; reportá-los é prevenção.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6233F"/>
                </a:solidFill>
                <a:latin typeface="Calibri"/>
              </a:rPr>
              <a:t>•  Reason (1990; 1997): falhas ativas × condições latentes — investigar só a conduta do trabalhador deixa intactas as causas organizacionais.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6233F"/>
                </a:solidFill>
                <a:latin typeface="Calibri"/>
              </a:rPr>
              <a:t>•  Árvore de causas (INRS; Binder; Monteau; Almeida): reconstrução da rede de fatos, sem juízo de culpa — referência brasileira consolidada.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6233F"/>
                </a:solidFill>
                <a:latin typeface="Calibri"/>
              </a:rPr>
              <a:t>•  Fatores humanos e organizacionais nas causas básicas: fadiga, pressão de tempo, sobrecarga — ponte com os riscos psicossociais da NR-1 e com o burnout (CID-11/QD85; Treml et al., 2025).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6233F"/>
                </a:solidFill>
                <a:latin typeface="Calibri"/>
              </a:rPr>
              <a:t>•  Operacionalização adotada: 3 níveis obrigatórios — causas imediatas → subjacentes → básicas; o formulário não conclui no nível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METODOLOGIA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Artefato + estudo de caso em duas partes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Pesquisa aplicada/tecnológica: desenvolvimento de artefato + estudo de caso em organização do setor elétrico (anonimizada).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Parte documental: ocorrências históricas anonimizadas reinvestigadas com o roteiro de 3 níveis — comparação com a análise original.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Parte de campo: piloto com as equipes registrando novas ocorrências e condições inseguras no local, pelo celular.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Arquitetura: custo zero · sem instalação · página web autocontida + backend gratuito em nuvem; dados tratados de forma agregada (LGPD).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O SISTEMA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Módulo central + três módulos integrados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26974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E7D63"/>
                </a:solidFill>
                <a:latin typeface="Consolas"/>
              </a:rPr>
              <a:t>● em uso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B4842A"/>
                </a:solidFill>
                <a:latin typeface="Consolas"/>
              </a:rPr>
              <a:t>CENTRAL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6233F"/>
                </a:solidFill>
                <a:latin typeface="Georgia"/>
              </a:rPr>
              <a:t>Acidentes e quase acidentes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576"/>
                </a:solidFill>
                <a:latin typeface="Calibri"/>
              </a:rPr>
              <a:t>NR-1 · NBR 14280 · árvore de causas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920240"/>
            <a:ext cx="26974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4884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E7D63"/>
                </a:solidFill>
                <a:latin typeface="Consolas"/>
              </a:rPr>
              <a:t>● em uso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B4842A"/>
                </a:solidFill>
                <a:latin typeface="Consolas"/>
              </a:rPr>
              <a:t>MÓDULO 2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6233F"/>
                </a:solidFill>
                <a:latin typeface="Georgia"/>
              </a:rPr>
              <a:t>Permissão de trabalho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576"/>
                </a:solidFill>
                <a:latin typeface="Calibri"/>
              </a:rPr>
              <a:t>NR-10 · NR-35 (distribuição)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920240"/>
            <a:ext cx="26974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4884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E7D63"/>
                </a:solidFill>
                <a:latin typeface="Consolas"/>
              </a:rPr>
              <a:t>● em uso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B4842A"/>
                </a:solidFill>
                <a:latin typeface="Consolas"/>
              </a:rPr>
              <a:t>MÓDULO 3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6233F"/>
                </a:solidFill>
                <a:latin typeface="Georgia"/>
              </a:rPr>
              <a:t>Riscos psicossociais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576"/>
                </a:solidFill>
                <a:latin typeface="Calibri"/>
              </a:rPr>
              <a:t>NR-1 · fatores humanos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1920240"/>
            <a:ext cx="26974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14884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E7D63"/>
                </a:solidFill>
                <a:latin typeface="Consolas"/>
              </a:rPr>
              <a:t>● em uso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B4842A"/>
                </a:solidFill>
                <a:latin typeface="Consolas"/>
              </a:rPr>
              <a:t>MÓDULO 4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6233F"/>
                </a:solidFill>
                <a:latin typeface="Georgia"/>
              </a:rPr>
              <a:t>Ergonomia (AEP)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576"/>
                </a:solidFill>
                <a:latin typeface="Calibri"/>
              </a:rPr>
              <a:t>NR-17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O MÓDULO CENTRAL EM DETALHE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Registro no local → 3 níveis de causas → ações e indicadores</a:t>
            </a:r>
          </a:p>
        </p:txBody>
      </p:sp>
      <p:pic>
        <p:nvPicPr>
          <p:cNvPr id="4" name="Picture 3" descr="shot_acid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486400" cy="6771132"/>
          </a:xfrm>
          <a:prstGeom prst="rect">
            <a:avLst/>
          </a:prstGeom>
          <a:ln w="12700">
            <a:solidFill>
              <a:srgbClr val="DDE2E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92240" y="17373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33F"/>
                </a:solidFill>
                <a:latin typeface="Georgia"/>
              </a:rPr>
              <a:t>Fluxo da investigação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576"/>
                </a:solidFill>
                <a:latin typeface="Calibri"/>
              </a:rPr>
              <a:t>1. Registro em &lt; 5 min: tipo, tarefa, descrição — alerta de CAT automático quando aplicável.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576"/>
                </a:solidFill>
                <a:latin typeface="Calibri"/>
              </a:rPr>
              <a:t>2. Causas imediatas: o que produziu o dano na cena.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576"/>
                </a:solidFill>
                <a:latin typeface="Calibri"/>
              </a:rPr>
              <a:t>3. Causas subjacentes: o que na tarefa/posto tornou possível.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576"/>
                </a:solidFill>
                <a:latin typeface="Calibri"/>
              </a:rPr>
              <a:t>4. Causas básicas: o que na gestão/organização originou — inclui fatores humanos (fadiga, sobrecarga).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576"/>
                </a:solidFill>
                <a:latin typeface="Calibri"/>
              </a:rPr>
              <a:t>5. Ações com responsável, prazo e status; indicadores automáticos (razão QA/acidentes, TF/TG da NBR 14280).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MÓDULOS INTEGRADOS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Permissão de trabalho, psicossocial e ergonomia</a:t>
            </a:r>
          </a:p>
        </p:txBody>
      </p:sp>
      <p:pic>
        <p:nvPicPr>
          <p:cNvPr id="4" name="Picture 3" descr="shot_a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657600" cy="2895600"/>
          </a:xfrm>
          <a:prstGeom prst="rect">
            <a:avLst/>
          </a:prstGeom>
          <a:ln w="12700">
            <a:solidFill>
              <a:srgbClr val="DDE2E9"/>
            </a:solidFill>
          </a:ln>
        </p:spPr>
      </p:pic>
      <p:pic>
        <p:nvPicPr>
          <p:cNvPr id="5" name="Picture 4" descr="sho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37360"/>
            <a:ext cx="3657600" cy="2895600"/>
          </a:xfrm>
          <a:prstGeom prst="rect">
            <a:avLst/>
          </a:prstGeom>
          <a:ln w="12700">
            <a:solidFill>
              <a:srgbClr val="DDE2E9"/>
            </a:solidFill>
          </a:ln>
        </p:spPr>
      </p:pic>
      <p:pic>
        <p:nvPicPr>
          <p:cNvPr id="6" name="Picture 5" descr="shot_a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37360"/>
            <a:ext cx="3383280" cy="2678430"/>
          </a:xfrm>
          <a:prstGeom prst="rect">
            <a:avLst/>
          </a:prstGeom>
          <a:ln w="12700">
            <a:solidFill>
              <a:srgbClr val="DDE2E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B6576"/>
                </a:solidFill>
                <a:latin typeface="Calibri"/>
              </a:rPr>
              <a:t>PT: checklist NR-10/35, geolocalização e assinatura  ·  Psicossocial: 10 itens anônimos, 6 dimensões  ·  AEP: 5 blocos com parecer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RESULTADOS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Sistema operacional + estudo de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Sistema implementado integralmente: registro, investigação em 3 níveis, ações e indicadores — sem transcrição manual, custo de operação nulo.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[PREENCHER: parte documental — distribuição de causas por nível na análise original × estruturada; 2–3 casos anonimizados].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[PREENCHER: piloto — volume por tipo, razão quase acidentes/acidentes, tempo mediano evento–registro, ações no prazo; inserir gráficos].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[PREENCHER: revisões do IRO/plano de ação decorrentes, sem identificar a organização].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DISCUSSÃO E LIMITAÇÕES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O que os resultados indicam — e o que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Se a investigação estruturada revelou mais causas básicas: o instrumento condiciona a profundidade — confirma Binder &amp; Almeida (1997).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Se o reporte de quase acidentes cresceu: a subnotificação era atrito de processo — o sistema captura a base da pirâmide (Heinrich; Bird).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Fatores humanos entre as causas básicas articulam acidentes e gestão psicossocial da NR-1 — faces do mesmo sistema.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Limitações: roteiro em 3 níveis é simplificação da árvore completa;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qualidade dos registros históricos; piloto curto em uma organização;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–  sem autenticação/segregação por empresa; limites da camada gratuita.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842A"/>
                </a:solidFill>
                <a:latin typeface="Consolas"/>
              </a:rPr>
              <a:t>CONCLUSÃO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6233F"/>
                </a:solidFill>
                <a:latin typeface="Georgia"/>
              </a:rPr>
              <a:t>Contribuição e trabalhos futuros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A digitalização do ciclo registro–investigação–ação torna exequível a exigência da NR-1 de analisar ocorrências e realimentar o PGR — a custo praticamente nulo.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Deslocamento essencial: da culpabilização individual para os fatores organizacionais — com rastreabilidade de auditoria.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6233F"/>
                </a:solidFill>
                <a:latin typeface="Calibri"/>
              </a:rPr>
              <a:t>•  Trabalhos futuros: diagrama completo da árvore no software; autenticação e segregação por organização; leitura longitudinal dos indicadores; cruzamento ocorrências × permissões × psicossocial.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128016"/>
          </a:xfrm>
          <a:prstGeom prst="rect">
            <a:avLst/>
          </a:prstGeom>
          <a:solidFill>
            <a:srgbClr val="B48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Obrigado.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B4842A"/>
                </a:solidFill>
                <a:latin typeface="Calibri"/>
              </a:rPr>
              <a:t>Rodrigo Zambon  ·  [PREENCHER: e-mail]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C7CEDB"/>
                </a:solidFill>
                <a:latin typeface="Calibri"/>
              </a:rPr>
              <a:t>Psike — investigação digital de acidentes pela árvore de causas (NR-1)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AEB8C9"/>
                </a:solidFill>
                <a:latin typeface="Calibri"/>
              </a:rPr>
              <a:t>Agradecimento: CERPRO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