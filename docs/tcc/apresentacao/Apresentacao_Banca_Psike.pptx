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Cumprimentar a banca. Apresentar-se, o tema e o orientador. Frase de abertura: o TCC nasce de uma exigência nova da NR-1 (2024) e entrega uma solução prática, aplicada no setor de distribuição de energia. Duração-alvo da defesa: ~15 min + arguição.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Ancorar o problema: a norma mudou, o prazo é real e próximo, e a forma como as empresas cumprem hoje é frágil. Situar o setor de energia como campo pertinente.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claro o 'gap' que justifica o trabalho. Enfatizar custo quase nulo e replicabilidade como diferencial.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Ler o objetivo geral com calma; passar pelos específicos rapidamente — eles espelham a estrutura da metodologia e dos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que a seleção das dimensões tem lastro teórico e alinhamento com a ISO 45003 e o Guia do MTE. Reforçar: avalia a organização.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Explicar por que Sheets/Apps Script: gratuito e replicável. Explicar os pontos de corte como julgamento técnico conservador, a calibrar com histórico.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coração da contribuição: a mesma base de dados vira um 'inventário de riscos vivo', alimentado por 4 processos operacionais. Os quatro módulos estão implementados e funcionais.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Demonstrar o fluxo: trabalhador responde no celular (anônimo) → painel classifica por dimensão → app gera o parágrafo do IRO pronto para colar no PGR. Se possível, fazer uma demo ao vivo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Passar rápido: mostrar que a plataforma cobre o campo (APR com assinatura e GPS), a ergonomia (AEP com parecer automático) e a investigação de acidentes com árvore de causas em 3 níveis.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entram os dados reais do piloto. NÃO inventar. Se o piloto ainda não ocorreu na data da defesa, apresentar como resultado esperado e mostrar o texto do IRO gerado com dados de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maturidade reconhecendo limites — a banca valoriza. Enquadrar o instrumento como triagem (screening), não diagnóstico.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Fechar reafirmando a contribuição prática e a visão de plataforma. Deixar gancho para os trabalhos futuros — mostra que o projeto tem continuidade.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Agradecer à banca e ao orientador. Sinalizar disponibilidade para a arguição. Ter o app aberto para eventual demonstração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640080" cy="640080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16233F"/>
                </a:solidFill>
                <a:latin typeface="Georgia"/>
              </a:rPr>
              <a:t>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658368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Psike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GESTÃO DIGITAL DE RISCOS PSICOSSOCIAIS CONFORME A NR-1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C7CEDB"/>
                </a:solidFill>
                <a:latin typeface="Calibri"/>
              </a:rPr>
              <a:t>Desenvolvimento e aplicação de uma plataforma de SST em serviços de distribuição de energia elétrica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4842A"/>
                </a:solidFill>
                <a:latin typeface="Calibri"/>
              </a:rPr>
              <a:t>Rodrigo Zambon  [PREENCHER: nome completo]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AEB8C9"/>
                </a:solidFill>
                <a:latin typeface="Calibri"/>
              </a:rPr>
              <a:t>Orientador(a): [PREENCHER]   ·   Especialização em Engenharia de Segurança do Trabalho — PECE/EPUSP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AEB8C9"/>
                </a:solidFill>
                <a:latin typeface="Calibri"/>
              </a:rPr>
              <a:t>São Paulo · [PREENCHER: data da defesa]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CONTEXTO E PROBLEMA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Uma exigência nova, um processo ainda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A Portaria MTE nº 1.419/2024 atualizou a NR-1: fatores de risco psicossocial passaram a ser obrigatórios no GRO/PGR.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Exigibilidade a partir de 26/05/2026 — alcança todo empregador CLT.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Não basta aplicar um questionário: é preciso identificar, avaliar, classificar, registrar no Inventário de Riscos (IRO) e agir — com rastreabilidade de longo prazo.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Na prática, a maioria das empresas faz isso em papel/planilha: baixa rastreabilidade e alto custo operacional.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No setor de distribuição de energia, os fatores psicossociais convivem com riscos graves (NR-10, NR-35) e demandas típicas: pressão por restabelecimento, turnos, sobreaviso, risco de acidente fatal.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JUSTIFICATIVA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A lacuna entre a norma e as ferramentas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Soluções comerciais de SST: custo alto para empresas menores.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Instrumentos validados extensos (ex.: COPSOQ, 80+ itens): exigem competência estatística pouco disponível em equipes enxutas.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Formulário impresso tabulado à mão: fragiliza justamente o que a NR-1 passou a exigir — anonimato, consistência e rastreabilidade.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Oportunidade: demonstrar uma solução digital de custo praticamente nulo, replicável por profissionais de SST sem apoio de TI.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OBJETIVOS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Objetivo geral e específicos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GERAL: desenvolver e aplicar uma plataforma digital para identificação, avaliação e documentação de fatores de risco psicossocial conforme a NR-1, integrada à gestão de riscos de uma distribuidora de energia.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Sistematizar os requisitos da NR-1 e referências (Guia MTE, ISO 45003);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Construir um instrumento enxuto (10 itens, 6 dimensões) com coleta anônima e classificação objetiva de risco;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Implementar a plataforma (web + backend gratuito) com painel e geração automática de texto para o IRO;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Digitalizar processos complementares: APR (NR-10/35), AEP (NR-17) e acidentes/near-miss;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Aplicar em piloto e discutir resultados, limitações e generalização.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FUNDAMENTAÇÃO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Do conceito às seis dimensões avaliadas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Fatores psicossociais: aspectos da organização e gestão do trabalho com potencial de dano — abordagem organizacional, não diagnóstico individual.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Modelos de base: demanda-controle (Karasek), esforço-recompensa (Siegrist), multidimensional (COPSOQ).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ISO 45003:2021: primeira norma internacional de riscos psicossociais; recomenda integrar ao sistema de gestão de SST existente.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Seis dimensões adotadas: carga e ritmo · autonomia e controle · clareza de papel · apoio social e de liderança · reconhecimento · assédio e violência.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METODOLOGIA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Arquitetura da plataforma e instrumento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Pesquisa aplicada/tecnológica: desenvolvimento de artefato + estudo de caso com aplicação piloto.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Três decisões de arquitetura: custo zero · sem instalação · anonimato por construção (LGPD).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Frontend: página web autocontida (abre no navegador do celular). Backend: Google Apps Script + Sheets como repositório único.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Instrumento: 10 afirmativas positivas, escala Likert 1–5; média por dimensão classificada em três faixas (baixo ≥ 3,8 · médio 2,8–3,8 · alto &lt; 2,8).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A PLATAFORMA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Uma base de dados, quatro módulos de SST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26974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2331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E7D63"/>
                </a:solidFill>
                <a:latin typeface="Consolas"/>
              </a:rPr>
              <a:t>● em uso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B4842A"/>
                </a:solidFill>
                <a:latin typeface="Consolas"/>
              </a:rPr>
              <a:t>MÓDULO 1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6233F"/>
                </a:solidFill>
                <a:latin typeface="Georgia"/>
              </a:rPr>
              <a:t>Riscos psicossociais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576"/>
                </a:solidFill>
                <a:latin typeface="Calibri"/>
              </a:rPr>
              <a:t>NR-1 · ISO 45003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60" y="1920240"/>
            <a:ext cx="26974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0" y="2148840"/>
            <a:ext cx="2331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E7D63"/>
                </a:solidFill>
                <a:latin typeface="Consolas"/>
              </a:rPr>
              <a:t>● em uso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B4842A"/>
                </a:solidFill>
                <a:latin typeface="Consolas"/>
              </a:rPr>
              <a:t>MÓDULO 2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6233F"/>
                </a:solidFill>
                <a:latin typeface="Georgia"/>
              </a:rPr>
              <a:t>APR / PT digital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576"/>
                </a:solidFill>
                <a:latin typeface="Calibri"/>
              </a:rPr>
              <a:t>NR-10 · NR-35 (distribuição)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920240"/>
            <a:ext cx="26974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48840"/>
            <a:ext cx="2331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E7D63"/>
                </a:solidFill>
                <a:latin typeface="Consolas"/>
              </a:rPr>
              <a:t>● em uso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B4842A"/>
                </a:solidFill>
                <a:latin typeface="Consolas"/>
              </a:rPr>
              <a:t>MÓDULO 3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6233F"/>
                </a:solidFill>
                <a:latin typeface="Georgia"/>
              </a:rPr>
              <a:t>Ergonomia (AEP)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576"/>
                </a:solidFill>
                <a:latin typeface="Calibri"/>
              </a:rPr>
              <a:t>NR-17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1920240"/>
            <a:ext cx="26974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2148840"/>
            <a:ext cx="2331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E7D63"/>
                </a:solidFill>
                <a:latin typeface="Consolas"/>
              </a:rPr>
              <a:t>● em uso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B4842A"/>
                </a:solidFill>
                <a:latin typeface="Consolas"/>
              </a:rPr>
              <a:t>MÓDULO 4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6233F"/>
                </a:solidFill>
                <a:latin typeface="Georgia"/>
              </a:rPr>
              <a:t>Acidentes e near-miss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576"/>
                </a:solidFill>
                <a:latin typeface="Calibri"/>
              </a:rPr>
              <a:t>NR-1 · árvore de causas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MÓDULO 1 EM DETALHE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Da resposta anônima ao texto do IRO — sem tabulação manual</a:t>
            </a:r>
          </a:p>
        </p:txBody>
      </p:sp>
      <p:pic>
        <p:nvPicPr>
          <p:cNvPr id="4" name="Picture 3" descr="shot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486400" cy="4343400"/>
          </a:xfrm>
          <a:prstGeom prst="rect">
            <a:avLst/>
          </a:prstGeom>
          <a:ln w="12700">
            <a:solidFill>
              <a:srgbClr val="DDE2E9"/>
            </a:solidFill>
          </a:ln>
        </p:spPr>
      </p:pic>
      <p:pic>
        <p:nvPicPr>
          <p:cNvPr id="5" name="Picture 4" descr="shot_so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37360"/>
            <a:ext cx="5303520" cy="4198620"/>
          </a:xfrm>
          <a:prstGeom prst="rect">
            <a:avLst/>
          </a:prstGeom>
          <a:ln w="12700">
            <a:solidFill>
              <a:srgbClr val="DDE2E9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MÓDULOS 2 A 4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Permissão de trabalho, ergonomia e acidentes</a:t>
            </a:r>
          </a:p>
        </p:txBody>
      </p:sp>
      <p:pic>
        <p:nvPicPr>
          <p:cNvPr id="4" name="Picture 3" descr="shot_a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3657600" cy="2895600"/>
          </a:xfrm>
          <a:prstGeom prst="rect">
            <a:avLst/>
          </a:prstGeom>
          <a:ln w="12700">
            <a:solidFill>
              <a:srgbClr val="DDE2E9"/>
            </a:solidFill>
          </a:ln>
        </p:spPr>
      </p:pic>
      <p:pic>
        <p:nvPicPr>
          <p:cNvPr id="5" name="Picture 4" descr="shot_a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737360"/>
            <a:ext cx="3657600" cy="2895600"/>
          </a:xfrm>
          <a:prstGeom prst="rect">
            <a:avLst/>
          </a:prstGeom>
          <a:ln w="12700">
            <a:solidFill>
              <a:srgbClr val="DDE2E9"/>
            </a:solidFill>
          </a:ln>
        </p:spPr>
      </p:pic>
      <p:pic>
        <p:nvPicPr>
          <p:cNvPr id="6" name="Picture 5" descr="shot_aciden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737360"/>
            <a:ext cx="3383280" cy="4175531"/>
          </a:xfrm>
          <a:prstGeom prst="rect">
            <a:avLst/>
          </a:prstGeom>
          <a:ln w="12700">
            <a:solidFill>
              <a:srgbClr val="DDE2E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5943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B6576"/>
                </a:solidFill>
                <a:latin typeface="Calibri"/>
              </a:rPr>
              <a:t>M2: checklist NR-10/35, geolocalização e assinatura digital  ·  M3: AEP em 5 blocos com parecer  ·  M4: árvore de causas e CAT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RESULTADOS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Plataforma operacional + aplicação piloto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Plataforma implementada integralmente: 4 módulos operacionais, custo de operação nulo.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Fluxo do Módulo 1 sem qualquer etapa manual de tabulação.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[PREENCHER: nº de respondentes, taxa de adesão e nota média / faixa de risco por dimensão — inserir tabela e gráfico do painel real].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[PREENCHER: transcrever o texto do IRO gerado pela plataforma no piloto, como evidência do produto final].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DISCUSSÃO E LIMITAÇÕES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O que os resultados indicam — e o que não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A barreira à conformidade com a NR-1 é operacional, não conceitual: a digitalização reduz o custo do ciclo a quase zero.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Ganhos alinhados à norma: anonimato, consistência da classificação e rastreabilidade dos registros.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Limitações: instrumento de triagem (10 itens), sem validação psicométrica formal;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pontos de corte por julgamento técnico, a calibrar com histórico;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sem autenticação e sem segregação por empresa (uso comercial exige);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limites da camada gratuita do Sheets; amostra restrita a uma organização.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CONCLUSÃO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Contribuição e trabalhos futuros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A digitalização viabiliza o cumprimento da NR-1 mesmo com equipes de SST enxutas, a custo praticamente nulo.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Conceito central: inventário de riscos 'vivo', alimentado pelos próprios processos operacionais de SST.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Trabalhos futuros: validação psicométrica; calibração dos cortes; autenticação e segregação por empresa; migração para banco de dados; acompanhamento longitudinal da eficácia das medidas.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Obrigado.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B4842A"/>
                </a:solidFill>
                <a:latin typeface="Calibri"/>
              </a:rPr>
              <a:t>Rodrigo Zambon  ·  [PREENCHER: e-mail]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C7CEDB"/>
                </a:solidFill>
                <a:latin typeface="Calibri"/>
              </a:rPr>
              <a:t>Psike — plataforma de gestão de riscos psicossociais (NR-1)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