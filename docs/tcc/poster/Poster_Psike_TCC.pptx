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32399288" cy="35999738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0B4"/>
    <a:srgbClr val="4A6E5F"/>
    <a:srgbClr val="89B1A1"/>
    <a:srgbClr val="B4CD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>
        <p:scale>
          <a:sx n="30" d="100"/>
          <a:sy n="30" d="100"/>
        </p:scale>
        <p:origin x="40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5891626"/>
            <a:ext cx="27539395" cy="1253324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8908198"/>
            <a:ext cx="24299466" cy="869160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1178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0885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8974945"/>
            <a:ext cx="27944386" cy="14974888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4091502"/>
            <a:ext cx="27944386" cy="7874940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049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778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916661"/>
            <a:ext cx="27944386" cy="695828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8824938"/>
            <a:ext cx="13706415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3149904"/>
            <a:ext cx="13706415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8824938"/>
            <a:ext cx="13773917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3149904"/>
            <a:ext cx="13773917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914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5481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5183304"/>
            <a:ext cx="16402140" cy="25583147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397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5183304"/>
            <a:ext cx="16402140" cy="25583147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22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371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916653"/>
            <a:ext cx="6986096" cy="3050811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916653"/>
            <a:ext cx="20553298" cy="30508114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2231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916661"/>
            <a:ext cx="27944386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9583264"/>
            <a:ext cx="27944386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33366432"/>
            <a:ext cx="1093476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177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 41">
            <a:extLst>
              <a:ext uri="{FF2B5EF4-FFF2-40B4-BE49-F238E27FC236}">
                <a16:creationId xmlns:a16="http://schemas.microsoft.com/office/drawing/2014/main" id="{3865C23C-EC1A-41E5-B4B1-08ABF07CFAB8}"/>
              </a:ext>
            </a:extLst>
          </p:cNvPr>
          <p:cNvSpPr/>
          <p:nvPr/>
        </p:nvSpPr>
        <p:spPr>
          <a:xfrm>
            <a:off x="0" y="4083796"/>
            <a:ext cx="32361633" cy="236203"/>
          </a:xfrm>
          <a:prstGeom prst="rect">
            <a:avLst/>
          </a:prstGeom>
          <a:solidFill>
            <a:srgbClr val="2680B4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2680B4"/>
              </a:solidFill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611354D-EDA4-4BCD-8E7E-054D9FBDB872}"/>
              </a:ext>
            </a:extLst>
          </p:cNvPr>
          <p:cNvSpPr txBox="1"/>
          <p:nvPr/>
        </p:nvSpPr>
        <p:spPr>
          <a:xfrm>
            <a:off x="122254" y="4794402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Introdução/ Objetivo</a:t>
            </a:r>
          </a:p>
          <a:p>
            <a:pPr algn="just"/>
            <a:r>
              <a:rPr lang="pt-BR" sz="3200" dirty="0" err="1"/>
              <a:t>A NR-1 exige que o empregador analise os acidentes e as doenças relacionadas ao trabalho, identifique suas causas e realimente o PGR (GRO). Na prática, o registro segue manual e tardio, a investigação para no “ato inseguro” e os quase acidentes raramente são reportados.</a:t>
            </a:r>
          </a:p>
          <a:p>
            <a:pPr algn="just"/>
            <a:r>
              <a:rPr lang="pt-BR" sz="3200" dirty="0" err="1"/>
              <a:t>No setor elétrico a gravidade é extrema: 2.089 acidentes de origem elétrica no Brasil em 2023, com 781 óbitos (ABRACOPEL, 2024); 250 mortes envolvendo a rede de distribuição (ABRADEE, 2024). Cada ocorrência — e cada quase acidente — é aprendizado que não pode ser desperdiçado.</a:t>
            </a:r>
          </a:p>
          <a:p>
            <a:pPr algn="just"/>
            <a:r>
              <a:rPr lang="pt-BR" sz="3200" dirty="0" err="1"/>
              <a:t>A literatura brasileira consolidou o método da árvore de causas como antídoto à investigação culpabilizadora, revelando os fatores gerenciais e organizacionais na gênese dos acidentes (BINDER; ALMEIDA, 1997).</a:t>
            </a:r>
          </a:p>
          <a:p>
            <a:pPr algn="just"/>
            <a:r>
              <a:rPr lang="pt-BR" sz="3200" dirty="0" err="1"/>
              <a:t>Objetivo: desenvolver e aplicar um sistema digital de registro e investigação de acidentes e quase acidentes estruturado no método da árvore de causas, integrado ao GRO/PGR da NR-1, em uma organização de distribuição de energia elétrica.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206E9E4-1F0D-47AF-AB51-57877C173B08}"/>
              </a:ext>
            </a:extLst>
          </p:cNvPr>
          <p:cNvSpPr txBox="1"/>
          <p:nvPr/>
        </p:nvSpPr>
        <p:spPr>
          <a:xfrm>
            <a:off x="16347223" y="4815907"/>
            <a:ext cx="15840000" cy="104644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Estudo de Caso</a:t>
            </a:r>
          </a:p>
          <a:p>
            <a:r>
              <a:rPr lang="pt-BR" sz="3200" dirty="0" err="1"/>
              <a:t>Organização do setor de distribuição de energia elétrica, preservada em anonimato. Parte documental: [PREENCHER: número] ocorrências históricas anonimizadas reinvestigadas com o roteiro de 3 níveis, comparando a profundidade causal com a análise original.</a:t>
            </a:r>
          </a:p>
          <a:p>
            <a:r>
              <a:rPr lang="pt-BR" sz="3200" dirty="0" err="1"/>
              <a:t>Parte de campo: piloto no período de [PREENCHER: período], com as equipes de [PREENCHER: escopo] registrando novas ocorrências e condições inseguras no local, pelo celular.</a:t>
            </a:r>
          </a:p>
          <a:p>
            <a:r>
              <a:rPr lang="pt-BR" sz="3200" dirty="0" err="1"/>
              <a:t>Nenhum caso identifica pessoas, datas exatas ou locais; os exemplos são descritos com função genérica e circunstâncias descaracterizadas.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5272D6E-1FD7-4C7E-AA34-5132CAC28839}"/>
              </a:ext>
            </a:extLst>
          </p:cNvPr>
          <p:cNvSpPr txBox="1"/>
          <p:nvPr/>
        </p:nvSpPr>
        <p:spPr>
          <a:xfrm>
            <a:off x="122254" y="20568804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Metodologia</a:t>
            </a:r>
            <a:endParaRPr lang="pt-BR" sz="3200" dirty="0"/>
          </a:p>
          <a:p>
            <a:pPr algn="just"/>
            <a:r>
              <a:rPr lang="pt-BR" sz="3200" dirty="0" err="1"/>
              <a:t>Pesquisa aplicada, de natureza tecnológica: desenvolvimento de artefato (o sistema digital, módulo central da plataforma Psike) seguido de estudo de caso — análise documental retrospectiva de ocorrências anonimizadas e piloto de campo.</a:t>
            </a:r>
          </a:p>
          <a:p>
            <a:pPr algn="just"/>
            <a:r>
              <a:rPr lang="pt-BR" sz="3200" dirty="0" err="1"/>
              <a:t>Arquitetura de custo zero: frontend em página web autocontida (sem instalação, uso no celular em campo) e backend gratuito em nuvem como repositório único. Tratamento de dados anonimizado, conforme a LGPD.</a:t>
            </a:r>
          </a:p>
          <a:p>
            <a:pPr algn="just"/>
            <a:r>
              <a:rPr lang="pt-BR" sz="3200" dirty="0" err="1"/>
              <a:t>Registro em campo em menos de 5 minutos: classificação (acidente com/sem afastamento, quase acidente, condição insegura), descrição, tarefa e alerta automático de CAT. Investigação guiada em 3 níveis de causas: imediatas → subjacentes → básicas — o formulário não permite concluir só com causas imediatas.</a:t>
            </a:r>
          </a:p>
          <a:p>
            <a:pPr algn="just"/>
            <a:r>
              <a:rPr lang="pt-BR" sz="3200" dirty="0" err="1"/>
              <a:t>Ações corretivas/preventivas com responsável e prazo; indicadores automáticos: razão quase acidentes/acidentes, tempo evento–registro, ações no prazo e taxas de frequência e gravidade (NBR 14280). Módulos complementares na mesma base: permissão de trabalho (NR-10/NR-35), fatores psicossociais (NR-1) e AEP (NR-17).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9E6AF8D-D347-4DCA-846F-BE6F448D21F7}"/>
              </a:ext>
            </a:extLst>
          </p:cNvPr>
          <p:cNvSpPr txBox="1"/>
          <p:nvPr/>
        </p:nvSpPr>
        <p:spPr>
          <a:xfrm>
            <a:off x="16347223" y="15414402"/>
            <a:ext cx="15840000" cy="103720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000" dirty="0"/>
              <a:t>Resultados e Discussão</a:t>
            </a:r>
          </a:p>
          <a:p>
            <a:r>
              <a:rPr lang="pt-BR" sz="3200" dirty="0" err="1"/>
              <a:t>O sistema foi implementado integralmente e está operacional: registro no local, investigação em 3 níveis, ações e indicadores atualizados sem transcrição manual, a custo de operação nulo.</a:t>
            </a:r>
          </a:p>
          <a:p>
            <a:r>
              <a:rPr lang="pt-BR" sz="3200" dirty="0" err="1"/>
              <a:t>[PREENCHER: inserir resultados reais — distribuição de causas por nível (análise original × estruturada), volume de quase acidentes reportados no piloto, razão QA/acidentes e tempo evento–registro. Substituir as figuras pelo gráfico do painel e telas do módulo.]</a:t>
            </a:r>
          </a:p>
          <a:p>
            <a:r>
              <a:rPr lang="pt-BR" sz="3200" dirty="0" err="1"/>
              <a:t>Discussão: quando o instrumento obriga a progressão até as causas básicas, a investigação alcança os fatores organizacionais que a análise tradicional não vê (BINDER; ALMEIDA, 1997; REASON, 1997) — e o reporte fácil de quase acidentes captura a base da pirâmide de eventos que antecede a lesão grave (HEINRICH, 1931; BIRD; GERMAIN, 1985).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6C6A47C-FCB9-483A-A748-CF60379D4F55}"/>
              </a:ext>
            </a:extLst>
          </p:cNvPr>
          <p:cNvSpPr txBox="1"/>
          <p:nvPr/>
        </p:nvSpPr>
        <p:spPr>
          <a:xfrm>
            <a:off x="16347223" y="25990309"/>
            <a:ext cx="15840000" cy="54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Conclusão</a:t>
            </a:r>
          </a:p>
          <a:p>
            <a:pPr algn="just"/>
            <a:r>
              <a:rPr lang="pt-BR" sz="3200" dirty="0" err="1"/>
              <a:t>A digitalização do ciclo registro–investigação–ação torna exequível, a custo praticamente nulo, a exigência da NR-1 de analisar ocorrências e realimentar o PGR — deslocando a análise da culpabilização individual para os fatores organizacionais e reduzindo a subnotificação de quase acidentes.</a:t>
            </a:r>
          </a:p>
          <a:p>
            <a:pPr algn="just"/>
            <a:r>
              <a:rPr lang="pt-BR" sz="3200" dirty="0" err="1"/>
              <a:t>Trabalhos futuros: diagrama completo da árvore de causas no software, autenticação e segregação por organização, acompanhamento longitudinal dos indicadores e cruzamento analítico entre ocorrências, permissões de trabalho e sinalização psicossocial.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37F7B228-43BE-479B-AC31-A3F069F61359}"/>
              </a:ext>
            </a:extLst>
          </p:cNvPr>
          <p:cNvSpPr txBox="1"/>
          <p:nvPr/>
        </p:nvSpPr>
        <p:spPr>
          <a:xfrm>
            <a:off x="16347223" y="31908804"/>
            <a:ext cx="15840000" cy="39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Referências</a:t>
            </a:r>
          </a:p>
          <a:p>
            <a:pPr algn="just"/>
            <a:r>
              <a:rPr lang="pt-BR" sz="2800" dirty="0" err="1"/>
              <a:t>ABRACOPEL. Anuário Estatístico de Acidentes de Origem Elétrica 2024 (ano-base 2023). Salto, 2024.</a:t>
            </a:r>
          </a:p>
          <a:p>
            <a:pPr algn="just"/>
            <a:r>
              <a:rPr lang="pt-BR" sz="2800" dirty="0" err="1"/>
              <a:t>BINDER, M. C. P.; ALMEIDA, I. M. Estudo de caso de dois acidentes do trabalho investigados com o método de árvore de causas. Cad. Saúde Pública, v. 13, n. 4, 1997.</a:t>
            </a:r>
          </a:p>
          <a:p>
            <a:pPr algn="just"/>
            <a:r>
              <a:rPr lang="pt-BR" sz="2800" dirty="0" err="1"/>
              <a:t>BRASIL. NR-1 — Gerenciamento de riscos ocupacionais (Portaria MTE nº 1.419/2024).</a:t>
            </a:r>
          </a:p>
          <a:p>
            <a:pPr algn="just"/>
            <a:r>
              <a:rPr lang="pt-BR" sz="2800" dirty="0" err="1"/>
              <a:t>ABNT. NBR 14280:2001 — Cadastro de acidente do trabalho.</a:t>
            </a:r>
          </a:p>
          <a:p>
            <a:pPr algn="just"/>
            <a:r>
              <a:rPr lang="pt-BR" sz="2800" dirty="0" err="1"/>
              <a:t>REASON, J. Managing the risks of organizational accidents. Ashgate, 1997.</a:t>
            </a:r>
          </a:p>
          <a:p>
            <a:pPr algn="just"/>
            <a:r>
              <a:rPr lang="pt-BR" sz="2800" dirty="0" err="1"/>
              <a:t>HEINRICH, H. W. Industrial accident prevention. McGraw-Hill, 1931.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F970E9-D303-4098-992F-AF447B6B33C4}"/>
              </a:ext>
            </a:extLst>
          </p:cNvPr>
          <p:cNvSpPr txBox="1"/>
          <p:nvPr/>
        </p:nvSpPr>
        <p:spPr>
          <a:xfrm>
            <a:off x="11261558" y="846826"/>
            <a:ext cx="10106526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SISTEMA DIGITAL DE INVESTIGAÇÃO DE ACIDENTES PELA ÁRVORE DE CAUSAS: registro de ocorrências integrado à NR-1 na distribuição de energia elétrica</a:t>
            </a:r>
          </a:p>
          <a:p>
            <a:pPr algn="ctr"/>
            <a:r>
              <a:rPr lang="pt-BR" sz="5400" dirty="0"/>
              <a:t>Rodrigo Zambon [PREENCHER: nome completo]</a:t>
            </a:r>
          </a:p>
          <a:p>
            <a:pPr algn="ctr"/>
            <a:r>
              <a:rPr lang="pt-BR" sz="5400" dirty="0"/>
              <a:t>[PREENCHER: e-mail]  ·  Supervisão: [PREENCHER: nome]  ·  Apoio: CERPRO</a:t>
            </a:r>
          </a:p>
        </p:txBody>
      </p:sp>
      <p:pic>
        <p:nvPicPr>
          <p:cNvPr id="1026" name="Picture 2" descr="Qué es un gráfico de líneas - Todo lo que necesitas saber">
            <a:extLst>
              <a:ext uri="{FF2B5EF4-FFF2-40B4-BE49-F238E27FC236}">
                <a16:creationId xmlns:a16="http://schemas.microsoft.com/office/drawing/2014/main" id="{03575FE9-9B75-B4CE-9D7E-169DCBA45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66" b="11708"/>
          <a:stretch/>
        </p:blipFill>
        <p:spPr bwMode="auto">
          <a:xfrm>
            <a:off x="17239748" y="16926891"/>
            <a:ext cx="5768641" cy="4060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delo de gráfico de linhas - Venngage">
            <a:extLst>
              <a:ext uri="{FF2B5EF4-FFF2-40B4-BE49-F238E27FC236}">
                <a16:creationId xmlns:a16="http://schemas.microsoft.com/office/drawing/2014/main" id="{F8A11072-674F-7D28-E08D-329EC42B5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95633" y="16926891"/>
            <a:ext cx="5768641" cy="4060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 essência da qualidade na produção - LCM Treinamento">
            <a:extLst>
              <a:ext uri="{FF2B5EF4-FFF2-40B4-BE49-F238E27FC236}">
                <a16:creationId xmlns:a16="http://schemas.microsoft.com/office/drawing/2014/main" id="{73DAB86F-3BD6-163E-A859-D7EAF22C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70701" y="6328676"/>
            <a:ext cx="762000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rrogadas inscrições para especialização em Gestão da Produção">
            <a:extLst>
              <a:ext uri="{FF2B5EF4-FFF2-40B4-BE49-F238E27FC236}">
                <a16:creationId xmlns:a16="http://schemas.microsoft.com/office/drawing/2014/main" id="{CE6B207C-B896-5AD1-7C86-82608F522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3185" y="6328677"/>
            <a:ext cx="5993535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 descr="Logotipo, nome da empresa&#10;&#10;Descrição gerada automaticamente">
            <a:extLst>
              <a:ext uri="{FF2B5EF4-FFF2-40B4-BE49-F238E27FC236}">
                <a16:creationId xmlns:a16="http://schemas.microsoft.com/office/drawing/2014/main" id="{1FD73602-8E73-DC2D-B33B-9DAABF5AE9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370" y="1090433"/>
            <a:ext cx="6366168" cy="163388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DF19CA78-E735-9C45-C5DF-FAC35CC78C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08104" y="1090433"/>
            <a:ext cx="7204062" cy="201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9810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897</TotalTime>
  <Words>1332</Words>
  <Application>Microsoft Office PowerPoint</Application>
  <PresentationFormat>Personalizar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Renata Marinho</dc:creator>
  <cp:lastModifiedBy>Suporte Lacasemin</cp:lastModifiedBy>
  <cp:revision>73</cp:revision>
  <cp:lastPrinted>2019-02-28T19:50:42Z</cp:lastPrinted>
  <dcterms:created xsi:type="dcterms:W3CDTF">2019-02-27T14:03:59Z</dcterms:created>
  <dcterms:modified xsi:type="dcterms:W3CDTF">2024-07-30T20:28:59Z</dcterms:modified>
</cp:coreProperties>
</file>