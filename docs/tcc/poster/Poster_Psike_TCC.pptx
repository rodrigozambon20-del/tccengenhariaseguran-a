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32399288" cy="35999738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0B4"/>
    <a:srgbClr val="4A6E5F"/>
    <a:srgbClr val="89B1A1"/>
    <a:srgbClr val="B4CD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>
        <p:scale>
          <a:sx n="30" d="100"/>
          <a:sy n="30" d="100"/>
        </p:scale>
        <p:origin x="40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5891626"/>
            <a:ext cx="27539395" cy="1253324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8908198"/>
            <a:ext cx="24299466" cy="869160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1178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0885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8974945"/>
            <a:ext cx="27944386" cy="14974888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4091502"/>
            <a:ext cx="27944386" cy="7874940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049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778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916661"/>
            <a:ext cx="27944386" cy="695828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8824938"/>
            <a:ext cx="13706415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3149904"/>
            <a:ext cx="13706415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8824938"/>
            <a:ext cx="13773917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3149904"/>
            <a:ext cx="13773917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914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5481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5183304"/>
            <a:ext cx="16402140" cy="25583147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397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5183304"/>
            <a:ext cx="16402140" cy="25583147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22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371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916653"/>
            <a:ext cx="6986096" cy="3050811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916653"/>
            <a:ext cx="20553298" cy="30508114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2231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916661"/>
            <a:ext cx="27944386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9583264"/>
            <a:ext cx="27944386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33366432"/>
            <a:ext cx="1093476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177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 41">
            <a:extLst>
              <a:ext uri="{FF2B5EF4-FFF2-40B4-BE49-F238E27FC236}">
                <a16:creationId xmlns:a16="http://schemas.microsoft.com/office/drawing/2014/main" id="{3865C23C-EC1A-41E5-B4B1-08ABF07CFAB8}"/>
              </a:ext>
            </a:extLst>
          </p:cNvPr>
          <p:cNvSpPr/>
          <p:nvPr/>
        </p:nvSpPr>
        <p:spPr>
          <a:xfrm>
            <a:off x="0" y="4083796"/>
            <a:ext cx="32361633" cy="236203"/>
          </a:xfrm>
          <a:prstGeom prst="rect">
            <a:avLst/>
          </a:prstGeom>
          <a:solidFill>
            <a:srgbClr val="2680B4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2680B4"/>
              </a:solidFill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611354D-EDA4-4BCD-8E7E-054D9FBDB872}"/>
              </a:ext>
            </a:extLst>
          </p:cNvPr>
          <p:cNvSpPr txBox="1"/>
          <p:nvPr/>
        </p:nvSpPr>
        <p:spPr>
          <a:xfrm>
            <a:off x="122254" y="4794402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Introdução/ Objetivo</a:t>
            </a:r>
          </a:p>
          <a:p>
            <a:pPr algn="just"/>
            <a:r>
              <a:rPr lang="pt-BR" sz="3200" dirty="0" err="1"/>
              <a:t>A Portaria MTE nº 1.419/2024 atualizou a NR-1 para exigir, de todo empregador CLT, a identificação, a avaliação e a documentação dos fatores de risco psicossocial relacionados ao trabalho dentro do Gerenciamento de Riscos Ocupacionais (GRO) e do PGR, com exigibilidade a partir de 26 de maio de 2026.</a:t>
            </a:r>
          </a:p>
          <a:p>
            <a:pPr algn="just"/>
            <a:r>
              <a:rPr lang="pt-BR" sz="3200" dirty="0" err="1"/>
              <a:t>Na maioria das organizações esse ciclo ainda é feito em papel ou planilhas avulsas, com baixa rastreabilidade e alto custo. No setor de distribuição de energia elétrica, os fatores psicossociais (pressão por restabelecimento, turnos, sobreaviso, risco de acidente grave) convivem com riscos regulados pela NR-10 e pela NR-35.</a:t>
            </a:r>
          </a:p>
          <a:p>
            <a:pPr algn="just"/>
            <a:r>
              <a:rPr lang="pt-BR" sz="3200" dirty="0" err="1"/>
              <a:t>Objetivo: desenvolver e aplicar uma plataforma digital de baixo custo para operacionalizar a gestão de riscos psicossociais conforme a NR-1, integrada a outros processos de SST sobre a mesma base de dados.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206E9E4-1F0D-47AF-AB51-57877C173B08}"/>
              </a:ext>
            </a:extLst>
          </p:cNvPr>
          <p:cNvSpPr txBox="1"/>
          <p:nvPr/>
        </p:nvSpPr>
        <p:spPr>
          <a:xfrm>
            <a:off x="16347223" y="4815907"/>
            <a:ext cx="15840000" cy="104644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Estudo de Caso</a:t>
            </a:r>
          </a:p>
          <a:p>
            <a:r>
              <a:rPr lang="pt-BR" sz="3200" dirty="0" err="1"/>
              <a:t>A aplicação piloto foi conduzida em [PREENCHER: empresa/unidade do setor de distribuição de energia], no período de [PREENCHER: período], com [PREENCHER: número] trabalhadores dos setores de [PREENCHER: setores].</a:t>
            </a:r>
          </a:p>
          <a:p>
            <a:r>
              <a:rPr lang="pt-BR" sz="3200" dirty="0" err="1"/>
              <a:t>O link da avaliação anônima foi distribuído por [PREENCHER: canal — ex.: QR code em DDS], precedido de comunicação sobre o caráter voluntário e anônimo da participação.</a:t>
            </a:r>
          </a:p>
          <a:p>
            <a:r>
              <a:rPr lang="pt-BR" sz="3200" dirty="0" err="1"/>
              <a:t>As permissões de trabalho (Módulo 2) foram testadas em campo em atividades de [PREENCHER: ex.: manutenção de rede desenergizada / linha viva / trabalho em altura em postes], com checklist, geolocalização e assinatura digital.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5272D6E-1FD7-4C7E-AA34-5132CAC28839}"/>
              </a:ext>
            </a:extLst>
          </p:cNvPr>
          <p:cNvSpPr txBox="1"/>
          <p:nvPr/>
        </p:nvSpPr>
        <p:spPr>
          <a:xfrm>
            <a:off x="122254" y="20568804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Metodologia</a:t>
            </a:r>
            <a:endParaRPr lang="pt-BR" sz="3200" dirty="0"/>
          </a:p>
          <a:p>
            <a:pPr algn="just"/>
            <a:r>
              <a:rPr lang="pt-BR" sz="3200" dirty="0" err="1"/>
              <a:t>Pesquisa aplicada, de natureza tecnológica: desenvolvimento de um artefato (a plataforma Psike) seguido de estudo de caso com aplicação piloto.</a:t>
            </a:r>
          </a:p>
          <a:p>
            <a:pPr algn="just"/>
            <a:r>
              <a:rPr lang="pt-BR" sz="3200" dirty="0" err="1"/>
              <a:t>Arquitetura de custo zero: frontend em página web autocontida (sem instalação) e backend gratuito em Google Apps Script/Sheets como repositório único. Coleta anônima por construção, em conformidade com a LGPD.</a:t>
            </a:r>
          </a:p>
          <a:p>
            <a:pPr algn="just"/>
            <a:r>
              <a:rPr lang="pt-BR" sz="3200" dirty="0" err="1"/>
              <a:t>Instrumento de avaliação: 10 itens em 6 dimensões (carga e ritmo; autonomia e controle; clareza de papel; apoio social e de liderança; reconhecimento; assédio e violência), em escala Likert de 5 pontos, com classificação automática do risco por dimensão em três faixas.</a:t>
            </a:r>
          </a:p>
          <a:p>
            <a:pPr algn="just"/>
            <a:r>
              <a:rPr lang="pt-BR" sz="3200" dirty="0" err="1"/>
              <a:t>A plataforma reúne quatro módulos sobre a mesma base: (1) riscos psicossociais (NR-1/ISO 45003); (2) permissão de trabalho para redes de distribuição (NR-10/NR-35); (3) Avaliação Ergonômica Preliminar (NR-17); (4) registro e investigação de acidentes e quase acidentes.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9E6AF8D-D347-4DCA-846F-BE6F448D21F7}"/>
              </a:ext>
            </a:extLst>
          </p:cNvPr>
          <p:cNvSpPr txBox="1"/>
          <p:nvPr/>
        </p:nvSpPr>
        <p:spPr>
          <a:xfrm>
            <a:off x="16347223" y="15414402"/>
            <a:ext cx="15840000" cy="103720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000" dirty="0"/>
              <a:t>Resultados e Discussão</a:t>
            </a:r>
          </a:p>
          <a:p>
            <a:r>
              <a:rPr lang="pt-BR" sz="3200" dirty="0" err="1"/>
              <a:t>A plataforma foi implementada integralmente, com os quatro módulos operacionais. O fluxo do Módulo 1 — da resposta anônima no celular ao texto pronto para o Inventário de Riscos Ocupacionais (IRO) — ocorre sem qualquer tabulação manual, a custo de operação nulo.</a:t>
            </a:r>
          </a:p>
          <a:p>
            <a:r>
              <a:rPr lang="pt-BR" sz="3200" dirty="0" err="1"/>
              <a:t>[PREENCHER: inserir os resultados reais — nº de respondentes, taxa de adesão, nota média e faixa de risco por dimensão. Substituir as figuras de exemplo ao lado pelo gráfico do painel por dimensão e por telas do app.]</a:t>
            </a:r>
          </a:p>
          <a:p>
            <a:r>
              <a:rPr lang="pt-BR" sz="3200" dirty="0" err="1"/>
              <a:t>Discussão: a principal barreira à conformidade com a nova NR-1 é operacional, não conceitual. A digitalização de ponta a ponta reduziu o custo do ciclo e melhorou o anonimato, a consistência da classificação e a rastreabilidade dos registros exigida pela norma.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6C6A47C-FCB9-483A-A748-CF60379D4F55}"/>
              </a:ext>
            </a:extLst>
          </p:cNvPr>
          <p:cNvSpPr txBox="1"/>
          <p:nvPr/>
        </p:nvSpPr>
        <p:spPr>
          <a:xfrm>
            <a:off x="16347223" y="25990309"/>
            <a:ext cx="15840000" cy="54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Conclusão</a:t>
            </a:r>
          </a:p>
          <a:p>
            <a:pPr algn="just"/>
            <a:r>
              <a:rPr lang="pt-BR" sz="3200" dirty="0" err="1"/>
              <a:t>A digitalização viabiliza o cumprimento da NR-1 quanto aos fatores psicossociais mesmo em organizações com equipes de SST enxutas, a custo praticamente nulo, e transforma o inventário de riscos em um documento vivo, alimentado pelos próprios processos operacionais.</a:t>
            </a:r>
          </a:p>
          <a:p>
            <a:pPr algn="just"/>
            <a:r>
              <a:rPr lang="pt-BR" sz="3200" dirty="0" err="1"/>
              <a:t>Trabalhos futuros: validação psicométrica do instrumento com amostras maiores, calibração dos pontos de corte com séries históricas, autenticação e segregação de dados por empresa e acompanhamento longitudinal da eficácia das medidas de controle.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37F7B228-43BE-479B-AC31-A3F069F61359}"/>
              </a:ext>
            </a:extLst>
          </p:cNvPr>
          <p:cNvSpPr txBox="1"/>
          <p:nvPr/>
        </p:nvSpPr>
        <p:spPr>
          <a:xfrm>
            <a:off x="16347223" y="31908804"/>
            <a:ext cx="15840000" cy="39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Referências</a:t>
            </a:r>
          </a:p>
          <a:p>
            <a:pPr algn="just"/>
            <a:r>
              <a:rPr lang="pt-BR" sz="2800" dirty="0" err="1"/>
              <a:t>BRASIL. NR-1 — Disposições gerais e gerenciamento de riscos ocupacionais. Redação da Portaria MTE nº 1.419/2024.</a:t>
            </a:r>
          </a:p>
          <a:p>
            <a:pPr algn="just"/>
            <a:r>
              <a:rPr lang="pt-BR" sz="2800" dirty="0" err="1"/>
              <a:t>BRASIL. NR-10 — Segurança em instalações e serviços em eletricidade.</a:t>
            </a:r>
          </a:p>
          <a:p>
            <a:pPr algn="just"/>
            <a:r>
              <a:rPr lang="pt-BR" sz="2800" dirty="0" err="1"/>
              <a:t>BRASIL. NR-17 — Ergonomia. Redação da Portaria MTP nº 423/2021.</a:t>
            </a:r>
          </a:p>
          <a:p>
            <a:pPr algn="just"/>
            <a:r>
              <a:rPr lang="pt-BR" sz="2800" dirty="0" err="1"/>
              <a:t>ISO 45003:2021 — Occupational health and safety — Psychological health and safety at work.</a:t>
            </a:r>
          </a:p>
          <a:p>
            <a:pPr algn="just"/>
            <a:r>
              <a:rPr lang="pt-BR" sz="2800" dirty="0" err="1"/>
              <a:t>WHO. Guidelines on mental health at work. Geneva, 2022.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F970E9-D303-4098-992F-AF447B6B33C4}"/>
              </a:ext>
            </a:extLst>
          </p:cNvPr>
          <p:cNvSpPr txBox="1"/>
          <p:nvPr/>
        </p:nvSpPr>
        <p:spPr>
          <a:xfrm>
            <a:off x="11261558" y="846826"/>
            <a:ext cx="10106526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GESTÃO DIGITAL DE RISCOS PSICOSSOCIAIS CONFORME A NR-1: plataforma de SST aplicada à distribuição de energia elétrica</a:t>
            </a:r>
          </a:p>
          <a:p>
            <a:pPr algn="ctr"/>
            <a:r>
              <a:rPr lang="pt-BR" sz="5400" dirty="0"/>
              <a:t>Rodrigo Zambon [PREENCHER: nome completo]</a:t>
            </a:r>
          </a:p>
          <a:p>
            <a:pPr algn="ctr"/>
            <a:r>
              <a:rPr lang="pt-BR" sz="5400" dirty="0"/>
              <a:t>[PREENCHER: e-mail]  ·  Orientador(a): [PREENCHER: nome]</a:t>
            </a:r>
          </a:p>
        </p:txBody>
      </p:sp>
      <p:pic>
        <p:nvPicPr>
          <p:cNvPr id="1026" name="Picture 2" descr="Qué es un gráfico de líneas - Todo lo que necesitas saber">
            <a:extLst>
              <a:ext uri="{FF2B5EF4-FFF2-40B4-BE49-F238E27FC236}">
                <a16:creationId xmlns:a16="http://schemas.microsoft.com/office/drawing/2014/main" id="{03575FE9-9B75-B4CE-9D7E-169DCBA45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66" b="11708"/>
          <a:stretch/>
        </p:blipFill>
        <p:spPr bwMode="auto">
          <a:xfrm>
            <a:off x="17239748" y="16926891"/>
            <a:ext cx="5768641" cy="4060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delo de gráfico de linhas - Venngage">
            <a:extLst>
              <a:ext uri="{FF2B5EF4-FFF2-40B4-BE49-F238E27FC236}">
                <a16:creationId xmlns:a16="http://schemas.microsoft.com/office/drawing/2014/main" id="{F8A11072-674F-7D28-E08D-329EC42B5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95633" y="16926891"/>
            <a:ext cx="5768641" cy="4060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 essência da qualidade na produção - LCM Treinamento">
            <a:extLst>
              <a:ext uri="{FF2B5EF4-FFF2-40B4-BE49-F238E27FC236}">
                <a16:creationId xmlns:a16="http://schemas.microsoft.com/office/drawing/2014/main" id="{73DAB86F-3BD6-163E-A859-D7EAF22C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70701" y="6328676"/>
            <a:ext cx="762000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rrogadas inscrições para especialização em Gestão da Produção">
            <a:extLst>
              <a:ext uri="{FF2B5EF4-FFF2-40B4-BE49-F238E27FC236}">
                <a16:creationId xmlns:a16="http://schemas.microsoft.com/office/drawing/2014/main" id="{CE6B207C-B896-5AD1-7C86-82608F522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3185" y="6328677"/>
            <a:ext cx="5993535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 descr="Logotipo, nome da empresa&#10;&#10;Descrição gerada automaticamente">
            <a:extLst>
              <a:ext uri="{FF2B5EF4-FFF2-40B4-BE49-F238E27FC236}">
                <a16:creationId xmlns:a16="http://schemas.microsoft.com/office/drawing/2014/main" id="{1FD73602-8E73-DC2D-B33B-9DAABF5AE9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370" y="1090433"/>
            <a:ext cx="6366168" cy="163388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DF19CA78-E735-9C45-C5DF-FAC35CC78C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08104" y="1090433"/>
            <a:ext cx="7204062" cy="201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9810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897</TotalTime>
  <Words>1332</Words>
  <Application>Microsoft Office PowerPoint</Application>
  <PresentationFormat>Personalizar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Renata Marinho</dc:creator>
  <cp:lastModifiedBy>Suporte Lacasemin</cp:lastModifiedBy>
  <cp:revision>73</cp:revision>
  <cp:lastPrinted>2019-02-28T19:50:42Z</cp:lastPrinted>
  <dcterms:created xsi:type="dcterms:W3CDTF">2019-02-27T14:03:59Z</dcterms:created>
  <dcterms:modified xsi:type="dcterms:W3CDTF">2024-07-30T20:28:59Z</dcterms:modified>
</cp:coreProperties>
</file>