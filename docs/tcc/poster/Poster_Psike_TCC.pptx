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32399288" cy="35999738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80B4"/>
    <a:srgbClr val="4A6E5F"/>
    <a:srgbClr val="89B1A1"/>
    <a:srgbClr val="B4CD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>
        <p:scale>
          <a:sx n="30" d="100"/>
          <a:sy n="30" d="100"/>
        </p:scale>
        <p:origin x="40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5891626"/>
            <a:ext cx="27539395" cy="1253324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18908198"/>
            <a:ext cx="24299466" cy="869160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1178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0885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8974945"/>
            <a:ext cx="27944386" cy="14974888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4091502"/>
            <a:ext cx="27944386" cy="7874940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0491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9583264"/>
            <a:ext cx="13769697" cy="2284150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9583264"/>
            <a:ext cx="13769697" cy="2284150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7778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1916661"/>
            <a:ext cx="27944386" cy="695828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8824938"/>
            <a:ext cx="13706415" cy="4324966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3149904"/>
            <a:ext cx="13706415" cy="19341529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8824938"/>
            <a:ext cx="13773917" cy="4324966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3149904"/>
            <a:ext cx="13773917" cy="19341529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914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13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5481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99982"/>
            <a:ext cx="10449614" cy="839993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5183304"/>
            <a:ext cx="16402140" cy="25583147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0799922"/>
            <a:ext cx="10449614" cy="20008190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3977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99982"/>
            <a:ext cx="10449614" cy="839993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5183304"/>
            <a:ext cx="16402140" cy="25583147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0799922"/>
            <a:ext cx="10449614" cy="20008190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022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2371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1916653"/>
            <a:ext cx="6986096" cy="3050811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1916653"/>
            <a:ext cx="20553298" cy="30508114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322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1916661"/>
            <a:ext cx="27944386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9583264"/>
            <a:ext cx="27944386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33366432"/>
            <a:ext cx="7289840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33366432"/>
            <a:ext cx="10934760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33366432"/>
            <a:ext cx="7289840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5177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tângulo 41">
            <a:extLst>
              <a:ext uri="{FF2B5EF4-FFF2-40B4-BE49-F238E27FC236}">
                <a16:creationId xmlns:a16="http://schemas.microsoft.com/office/drawing/2014/main" id="{3865C23C-EC1A-41E5-B4B1-08ABF07CFAB8}"/>
              </a:ext>
            </a:extLst>
          </p:cNvPr>
          <p:cNvSpPr/>
          <p:nvPr/>
        </p:nvSpPr>
        <p:spPr>
          <a:xfrm>
            <a:off x="0" y="4083796"/>
            <a:ext cx="32361633" cy="236203"/>
          </a:xfrm>
          <a:prstGeom prst="rect">
            <a:avLst/>
          </a:prstGeom>
          <a:solidFill>
            <a:srgbClr val="2680B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680B4"/>
              </a:solidFill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611354D-EDA4-4BCD-8E7E-054D9FBDB872}"/>
              </a:ext>
            </a:extLst>
          </p:cNvPr>
          <p:cNvSpPr txBox="1"/>
          <p:nvPr/>
        </p:nvSpPr>
        <p:spPr>
          <a:xfrm>
            <a:off x="122254" y="4794402"/>
            <a:ext cx="15840000" cy="153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6600" dirty="0"/>
              <a:t>Introdução/ Objetivo</a:t>
            </a:r>
          </a:p>
          <a:p>
            <a:pPr algn="just"/>
            <a:r>
              <a:rPr lang="pt-BR" sz="3200" dirty="0" err="1"/>
              <a:t>A NR-1 exige que o empregador analise os acidentes e as doenças relacionadas ao trabalho, identifique suas causas e realimente o PGR (GRO). Na prática, o registro segue manual e tardio, a investigação para no “ato inseguro” e os quase acidentes raramente são reportados.</a:t>
            </a:r>
          </a:p>
          <a:p>
            <a:pPr algn="just"/>
            <a:r>
              <a:rPr lang="pt-BR" sz="3200" dirty="0" err="1"/>
              <a:t>No setor elétrico a gravidade é extrema: 2.089 acidentes de origem elétrica no Brasil em 2023, com 781 óbitos (Abracopel, 2024); 250 mortes envolvendo a rede de distribuição (Acidentes [...], 2024). Cada ocorrência — e cada quase acidente — é aprendizado que não pode ser desperdiçado.</a:t>
            </a:r>
          </a:p>
          <a:p>
            <a:pPr algn="just"/>
            <a:r>
              <a:rPr lang="pt-BR" sz="3200" dirty="0" err="1"/>
              <a:t>A literatura brasileira consolidou o método da árvore de causas como antídoto à investigação culpabilizadora, revelando os fatores gerenciais e organizacionais na gênese dos acidentes (Binder; Almeida, 1997).</a:t>
            </a:r>
          </a:p>
          <a:p>
            <a:pPr algn="just"/>
            <a:r>
              <a:rPr lang="pt-BR" sz="3200" dirty="0" err="1"/>
              <a:t>Objetivo: desenvolver e aplicar um sistema digital de registro e investigação de acidentes e quase acidentes estruturado no método da árvore de causas, integrado ao GRO/PGR da NR-1, em uma organização de distribuição de energia elétrica.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206E9E4-1F0D-47AF-AB51-57877C173B08}"/>
              </a:ext>
            </a:extLst>
          </p:cNvPr>
          <p:cNvSpPr txBox="1"/>
          <p:nvPr/>
        </p:nvSpPr>
        <p:spPr>
          <a:xfrm>
            <a:off x="16347223" y="4815907"/>
            <a:ext cx="15840000" cy="104644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6600" dirty="0"/>
              <a:t>Estudo de Caso</a:t>
            </a:r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r>
              <a:rPr lang="pt-BR" sz="3200" dirty="0" err="1"/>
              <a:t>Organização de distribuição de energia elétrica, preservada em anonimato. Parte documental: [PREENCHER: nº] ocorrências históricas anonimizadas reinvestigadas em 3 níveis. Parte de campo: piloto em [PREENCHER: período] com as equipes de [PREENCHER: escopo], registrando ocorrências pelo celular.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15272D6E-1FD7-4C7E-AA34-5132CAC28839}"/>
              </a:ext>
            </a:extLst>
          </p:cNvPr>
          <p:cNvSpPr txBox="1"/>
          <p:nvPr/>
        </p:nvSpPr>
        <p:spPr>
          <a:xfrm>
            <a:off x="122254" y="20568804"/>
            <a:ext cx="15840000" cy="153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6600" dirty="0"/>
              <a:t>Metodologia</a:t>
            </a:r>
            <a:endParaRPr lang="pt-BR" sz="3200" dirty="0"/>
          </a:p>
          <a:p>
            <a:pPr algn="just"/>
            <a:r>
              <a:rPr lang="pt-BR" sz="3200" dirty="0" err="1"/>
              <a:t>Pesquisa aplicada, de natureza tecnológica: desenvolvimento de artefato (o sistema digital, módulo central da plataforma Psike) seguido de estudo de caso — análise documental retrospectiva de ocorrências anonimizadas e piloto de campo.</a:t>
            </a:r>
          </a:p>
          <a:p>
            <a:pPr algn="just"/>
            <a:r>
              <a:rPr lang="pt-BR" sz="3200" dirty="0" err="1"/>
              <a:t>Arquitetura de custo zero: frontend em página web autocontida (sem instalação, uso no celular em campo) e backend gratuito em nuvem como repositório único. Tratamento de dados anonimizado, conforme a LGPD.</a:t>
            </a:r>
          </a:p>
          <a:p>
            <a:pPr algn="just"/>
            <a:r>
              <a:rPr lang="pt-BR" sz="3200" dirty="0" err="1"/>
              <a:t>Registro em campo em menos de 5 minutos: classificação (acidente com/sem afastamento, quase acidente, condição insegura), descrição, tarefa e alerta automático de CAT. Investigação guiada em 3 níveis de causas: imediatas → subjacentes → básicas — o formulário não permite concluir só com causas imediatas.</a:t>
            </a:r>
          </a:p>
          <a:p>
            <a:pPr algn="just"/>
            <a:r>
              <a:rPr lang="pt-BR" sz="3200" dirty="0" err="1"/>
              <a:t>Ações corretivas/preventivas com responsável e prazo; indicadores automáticos: razão quase acidentes/acidentes, tempo evento–registro, ações no prazo e taxas de frequência e gravidade (NBR 14280). Módulos complementares na mesma base: permissão de trabalho (NR-10/NR-35), fatores psicossociais (NR-1) e AEP (NR-17).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D9E6AF8D-D347-4DCA-846F-BE6F448D21F7}"/>
              </a:ext>
            </a:extLst>
          </p:cNvPr>
          <p:cNvSpPr txBox="1"/>
          <p:nvPr/>
        </p:nvSpPr>
        <p:spPr>
          <a:xfrm>
            <a:off x="16347223" y="15414402"/>
            <a:ext cx="15840000" cy="103720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6000" dirty="0"/>
              <a:t>Resultados e Discussão</a:t>
            </a:r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r>
              <a:rPr lang="pt-BR" sz="3200" dirty="0" err="1"/>
              <a:t>Sistema operacional, sem transcrição manual e com custo nulo. [PREENCHER: principal resultado documental e do piloto.] Ao exigir as causas básicas, a investigação alcança os fatores organizacionais que a análise tradicional não vê (Binder; Almeida, 1997; Reason, 1997).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66C6A47C-FCB9-483A-A748-CF60379D4F55}"/>
              </a:ext>
            </a:extLst>
          </p:cNvPr>
          <p:cNvSpPr txBox="1"/>
          <p:nvPr/>
        </p:nvSpPr>
        <p:spPr>
          <a:xfrm>
            <a:off x="16347223" y="25990309"/>
            <a:ext cx="15840000" cy="54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6600" dirty="0"/>
              <a:t>Conclusão</a:t>
            </a:r>
          </a:p>
          <a:p>
            <a:pPr algn="just"/>
            <a:r>
              <a:rPr lang="pt-BR" sz="3200" dirty="0" err="1"/>
              <a:t>A digitalização do ciclo registro–investigação–ação torna exequível, a custo praticamente nulo, a exigência da NR-1 de analisar ocorrências e realimentar o PGR — deslocando a análise da culpabilização individual para os fatores organizacionais e reduzindo a subnotificação de quase acidentes.</a:t>
            </a:r>
          </a:p>
          <a:p>
            <a:pPr algn="just"/>
            <a:r>
              <a:rPr lang="pt-BR" sz="3200" dirty="0" err="1"/>
              <a:t>Trabalhos futuros: diagrama completo da árvore de causas no software, autenticação e segregação por organização, acompanhamento longitudinal dos indicadores e cruzamento analítico entre ocorrências, permissões de trabalho e sinalização psicossocial.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37F7B228-43BE-479B-AC31-A3F069F61359}"/>
              </a:ext>
            </a:extLst>
          </p:cNvPr>
          <p:cNvSpPr txBox="1"/>
          <p:nvPr/>
        </p:nvSpPr>
        <p:spPr>
          <a:xfrm>
            <a:off x="16347223" y="31908804"/>
            <a:ext cx="15840000" cy="39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6600" dirty="0"/>
              <a:t>Referências</a:t>
            </a:r>
          </a:p>
          <a:p>
            <a:pPr algn="just"/>
            <a:r>
              <a:rPr lang="pt-BR" sz="2800" dirty="0" err="1"/>
              <a:t>ABRACOPEL. Anuário estatístico de acidentes de origem elétrica 2024: ano base 2023. Abracopel, 2024.</a:t>
            </a:r>
          </a:p>
          <a:p>
            <a:pPr algn="just"/>
            <a:r>
              <a:rPr lang="pt-BR" sz="2800" dirty="0" err="1"/>
              <a:t>BINDER, M. C. P.; ALMEIDA, I. M. Estudo de caso de dois acidentes do trabalho investigados com o método de árvore de causas. Cadernos de Saúde Pública, v. 13, n. 4, p. 749-760, 1997.</a:t>
            </a:r>
          </a:p>
          <a:p>
            <a:pPr algn="just"/>
            <a:r>
              <a:rPr lang="pt-BR" sz="2800" dirty="0" err="1"/>
              <a:t>BRASIL. MTE. NR-1: gerenciamento de riscos ocupacionais. Portaria MTE nº 1.419/2024.</a:t>
            </a:r>
          </a:p>
          <a:p>
            <a:pPr algn="just"/>
            <a:r>
              <a:rPr lang="pt-BR" sz="2800" dirty="0" err="1"/>
              <a:t>ABNT. NBR 14280: cadastro de acidente do trabalho. Rio de Janeiro, 2001.</a:t>
            </a:r>
          </a:p>
          <a:p>
            <a:pPr algn="just"/>
            <a:r>
              <a:rPr lang="pt-BR" sz="2800" dirty="0" err="1"/>
              <a:t>REASON, J. Managing the risks of organizational accidents. Ashgate, 1997.</a:t>
            </a:r>
          </a:p>
          <a:p>
            <a:pPr algn="just"/>
            <a:r>
              <a:rPr lang="pt-BR" sz="2800" dirty="0" err="1"/>
              <a:t>HEINRICH, H. W. Industrial accident prevention. McGraw-Hill, 1931.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6F970E9-D303-4098-992F-AF447B6B33C4}"/>
              </a:ext>
            </a:extLst>
          </p:cNvPr>
          <p:cNvSpPr txBox="1"/>
          <p:nvPr/>
        </p:nvSpPr>
        <p:spPr>
          <a:xfrm>
            <a:off x="11261558" y="846826"/>
            <a:ext cx="1010652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/>
              <a:t>INVESTIGAÇÃO DIGITAL DE ACIDENTES PELA ÁRVORE DE CAUSAS NA DISTRIBUIÇÃO DE ENERGIA ELÉTRICA</a:t>
            </a:r>
          </a:p>
          <a:p>
            <a:pPr algn="ctr"/>
            <a:r>
              <a:rPr lang="pt-BR" sz="2800" dirty="0"/>
              <a:t>Rodrigo Zambon [PREENCHER: nome completo]</a:t>
            </a:r>
          </a:p>
          <a:p>
            <a:pPr algn="ctr"/>
            <a:r>
              <a:rPr lang="pt-BR" sz="2400" dirty="0"/>
              <a:t>[PREENCHER: e-mail]  ·  Apoio: CERPRO</a:t>
            </a:r>
          </a:p>
        </p:txBody>
      </p:sp>
      <p:pic>
        <p:nvPicPr>
          <p:cNvPr id="7" name="Imagem 6" descr="Logotipo, nome da empresa&#10;&#10;Descrição gerada automaticamente">
            <a:extLst>
              <a:ext uri="{FF2B5EF4-FFF2-40B4-BE49-F238E27FC236}">
                <a16:creationId xmlns:a16="http://schemas.microsoft.com/office/drawing/2014/main" id="{1FD73602-8E73-DC2D-B33B-9DAABF5AE9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370" y="1090433"/>
            <a:ext cx="6366168" cy="163388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DF19CA78-E735-9C45-C5DF-FAC35CC78C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08104" y="1090433"/>
            <a:ext cx="7204062" cy="2014886"/>
          </a:xfrm>
          <a:prstGeom prst="rect">
            <a:avLst/>
          </a:prstGeom>
        </p:spPr>
      </p:pic>
      <p:sp>
        <p:nvSpPr>
          <p:cNvPr id="1033" name="Rectangle 1032"/>
          <p:cNvSpPr/>
          <p:nvPr/>
        </p:nvSpPr>
        <p:spPr>
          <a:xfrm>
            <a:off x="827999" y="14760000"/>
            <a:ext cx="14400000" cy="5040000"/>
          </a:xfrm>
          <a:prstGeom prst="rect">
            <a:avLst/>
          </a:prstGeom>
          <a:solidFill>
            <a:srgbClr val="FFF2A8"/>
          </a:solidFill>
          <a:ln w="38100">
            <a:solidFill>
              <a:srgbClr val="B48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6233F"/>
                </a:solidFill>
              </a:rPr>
              <a:t>[PREENCHER: FIGURA do método — exemplo de árvore de causas ou fluxo registro → 3 níveis de causas → ações]</a:t>
            </a:r>
          </a:p>
        </p:txBody>
      </p:sp>
      <p:sp>
        <p:nvSpPr>
          <p:cNvPr id="1034" name="Rectangle 1033"/>
          <p:cNvSpPr/>
          <p:nvPr/>
        </p:nvSpPr>
        <p:spPr>
          <a:xfrm>
            <a:off x="17070701" y="6328676"/>
            <a:ext cx="7620000" cy="4286250"/>
          </a:xfrm>
          <a:prstGeom prst="rect">
            <a:avLst/>
          </a:prstGeom>
          <a:solidFill>
            <a:srgbClr val="FFF2A8"/>
          </a:solidFill>
          <a:ln w="38100">
            <a:solidFill>
              <a:srgbClr val="B48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6233F"/>
                </a:solidFill>
              </a:rPr>
              <a:t>[PREENCHER: FOTO 1 do estudo de caso — rostos e logotipos ocultados]</a:t>
            </a:r>
          </a:p>
        </p:txBody>
      </p:sp>
      <p:sp>
        <p:nvSpPr>
          <p:cNvPr id="1035" name="Rectangle 1034"/>
          <p:cNvSpPr/>
          <p:nvPr/>
        </p:nvSpPr>
        <p:spPr>
          <a:xfrm>
            <a:off x="24883185" y="6328677"/>
            <a:ext cx="5993535" cy="4286250"/>
          </a:xfrm>
          <a:prstGeom prst="rect">
            <a:avLst/>
          </a:prstGeom>
          <a:solidFill>
            <a:srgbClr val="FFF2A8"/>
          </a:solidFill>
          <a:ln w="38100">
            <a:solidFill>
              <a:srgbClr val="B48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6233F"/>
                </a:solidFill>
              </a:rPr>
              <a:t>[PREENCHER: FOTO 2 do estudo de caso — rostos e logotipos ocultados]</a:t>
            </a:r>
          </a:p>
        </p:txBody>
      </p:sp>
      <p:sp>
        <p:nvSpPr>
          <p:cNvPr id="1036" name="Rectangle 1035"/>
          <p:cNvSpPr/>
          <p:nvPr/>
        </p:nvSpPr>
        <p:spPr>
          <a:xfrm>
            <a:off x="17239748" y="16926891"/>
            <a:ext cx="5768641" cy="4060105"/>
          </a:xfrm>
          <a:prstGeom prst="rect">
            <a:avLst/>
          </a:prstGeom>
          <a:solidFill>
            <a:srgbClr val="FFF2A8"/>
          </a:solidFill>
          <a:ln w="38100">
            <a:solidFill>
              <a:srgbClr val="B48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6233F"/>
                </a:solidFill>
              </a:rPr>
              <a:t>[PREENCHER: gráfico real do painel — causas por nível]</a:t>
            </a:r>
          </a:p>
        </p:txBody>
      </p:sp>
      <p:sp>
        <p:nvSpPr>
          <p:cNvPr id="1037" name="Rectangle 1036"/>
          <p:cNvSpPr/>
          <p:nvPr/>
        </p:nvSpPr>
        <p:spPr>
          <a:xfrm>
            <a:off x="24995633" y="16926891"/>
            <a:ext cx="5768641" cy="4060106"/>
          </a:xfrm>
          <a:prstGeom prst="rect">
            <a:avLst/>
          </a:prstGeom>
          <a:solidFill>
            <a:srgbClr val="FFF2A8"/>
          </a:solidFill>
          <a:ln w="38100">
            <a:solidFill>
              <a:srgbClr val="B48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6233F"/>
                </a:solidFill>
              </a:rPr>
              <a:t>[PREENCHER: gráfico real do painel — indicadores do piloto]</a:t>
            </a:r>
          </a:p>
        </p:txBody>
      </p:sp>
    </p:spTree>
    <p:extLst>
      <p:ext uri="{BB962C8B-B14F-4D97-AF65-F5344CB8AC3E}">
        <p14:creationId xmlns:p14="http://schemas.microsoft.com/office/powerpoint/2010/main" val="39999810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897</TotalTime>
  <Words>1332</Words>
  <Application>Microsoft Office PowerPoint</Application>
  <PresentationFormat>Personalizar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Renata Marinho</dc:creator>
  <cp:lastModifiedBy>Suporte Lacasemin</cp:lastModifiedBy>
  <cp:revision>73</cp:revision>
  <cp:lastPrinted>2019-02-28T19:50:42Z</cp:lastPrinted>
  <dcterms:created xsi:type="dcterms:W3CDTF">2019-02-27T14:03:59Z</dcterms:created>
  <dcterms:modified xsi:type="dcterms:W3CDTF">2024-07-30T20:28:59Z</dcterms:modified>
</cp:coreProperties>
</file>